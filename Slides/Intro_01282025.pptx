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71" r:id="rId9"/>
    <p:sldId id="272" r:id="rId10"/>
    <p:sldId id="264" r:id="rId11"/>
    <p:sldId id="265" r:id="rId12"/>
    <p:sldId id="266" r:id="rId13"/>
    <p:sldId id="269" r:id="rId14"/>
    <p:sldId id="277" r:id="rId15"/>
    <p:sldId id="273" r:id="rId16"/>
    <p:sldId id="270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34"/>
    <p:restoredTop sz="94718"/>
  </p:normalViewPr>
  <p:slideViewPr>
    <p:cSldViewPr snapToGrid="0">
      <p:cViewPr varScale="1">
        <p:scale>
          <a:sx n="113" d="100"/>
          <a:sy n="113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B97AC-FD79-6841-9A93-339398894033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D5F129-CCAD-1C4F-8B37-8F1FA6045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40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5F129-CCAD-1C4F-8B37-8F1FA60456C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30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5F129-CCAD-1C4F-8B37-8F1FA60456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66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89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87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28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0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98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24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1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0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14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8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93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45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80F66-730A-1A5B-4571-98B578660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Clinical Informatics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A9038-CB06-BE11-FC59-96909185B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118" y="5374291"/>
            <a:ext cx="4057882" cy="972532"/>
          </a:xfrm>
        </p:spPr>
        <p:txBody>
          <a:bodyPr anchor="t">
            <a:normAutofit/>
          </a:bodyPr>
          <a:lstStyle/>
          <a:p>
            <a:r>
              <a:rPr lang="en-US" dirty="0"/>
              <a:t>01/28/2026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3399BD4-4D58-0788-DB2D-58F6FCC553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075" b="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3828-73FC-5F5B-C4A7-EF2D4E7A0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informatics relevant to medicine?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62B18F-6976-2893-952C-2160D0435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783258" cy="3566160"/>
          </a:xfrm>
        </p:spPr>
        <p:txBody>
          <a:bodyPr/>
          <a:lstStyle/>
          <a:p>
            <a:r>
              <a:rPr lang="en-US" dirty="0"/>
              <a:t>Can act as an improvement to health decision-making</a:t>
            </a:r>
          </a:p>
          <a:p>
            <a:r>
              <a:rPr lang="en-US" dirty="0"/>
              <a:t>Expands access to care</a:t>
            </a:r>
          </a:p>
          <a:p>
            <a:r>
              <a:rPr lang="en-US" dirty="0"/>
              <a:t>Streamline workflows</a:t>
            </a:r>
          </a:p>
          <a:p>
            <a:r>
              <a:rPr lang="en-US" dirty="0"/>
              <a:t>Precision medicine</a:t>
            </a:r>
          </a:p>
          <a:p>
            <a:r>
              <a:rPr lang="en-US" dirty="0"/>
              <a:t>AI/ML</a:t>
            </a:r>
          </a:p>
          <a:p>
            <a:r>
              <a:rPr lang="en-US" dirty="0"/>
              <a:t>Data management</a:t>
            </a:r>
          </a:p>
        </p:txBody>
      </p:sp>
      <p:pic>
        <p:nvPicPr>
          <p:cNvPr id="6" name="Picture 5" descr="A close-up of a sign&#10;&#10;AI-generated content may be incorrect.">
            <a:extLst>
              <a:ext uri="{FF2B5EF4-FFF2-40B4-BE49-F238E27FC236}">
                <a16:creationId xmlns:a16="http://schemas.microsoft.com/office/drawing/2014/main" id="{7DEF1E93-A898-6249-072A-4A1D3B58E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079" y="3429000"/>
            <a:ext cx="7772400" cy="197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0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A128-6DCE-B53C-3482-2530468D3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questions can informatics help answer?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4DBE4-E938-8607-54E0-75ADCB895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Prognostication: Is X a biomarker of Y disease?</a:t>
            </a:r>
          </a:p>
          <a:p>
            <a:r>
              <a:rPr lang="en-US" dirty="0"/>
              <a:t>Quality-improvement: Does adding X treatment to the standard of care improve quality-of-life?</a:t>
            </a:r>
          </a:p>
          <a:p>
            <a:r>
              <a:rPr lang="en-US" dirty="0"/>
              <a:t>Decision-making: Can understanding X exposure allow for risk assessment in patient populations?</a:t>
            </a:r>
          </a:p>
          <a:p>
            <a:r>
              <a:rPr lang="en-US" dirty="0"/>
              <a:t>Discovery: How does X treatment impact the fundamental biology of Y disease?</a:t>
            </a:r>
          </a:p>
          <a:p>
            <a:r>
              <a:rPr lang="en-US" dirty="0"/>
              <a:t>Discovery: Can we develop X epitope vaccine for Y disease?</a:t>
            </a:r>
          </a:p>
          <a:p>
            <a:r>
              <a:rPr lang="en-US" dirty="0"/>
              <a:t>Discovery: What lies on the surface of tumor cells?</a:t>
            </a:r>
          </a:p>
        </p:txBody>
      </p:sp>
    </p:spTree>
    <p:extLst>
      <p:ext uri="{BB962C8B-B14F-4D97-AF65-F5344CB8AC3E}">
        <p14:creationId xmlns:p14="http://schemas.microsoft.com/office/powerpoint/2010/main" val="311163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B7BD-7A2C-60C5-8191-5B07F156E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can’t chat just do it all?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74A71-7FEE-E5B0-46AB-BF90DE327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7800535" cy="35661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No, but it can certainly help.</a:t>
            </a:r>
          </a:p>
          <a:p>
            <a:r>
              <a:rPr lang="en-US" dirty="0"/>
              <a:t>ChatGPT is a great assistant for analyses but cannot replace your ability to think up real, relevant outside-the-box humanoid questions. </a:t>
            </a:r>
          </a:p>
          <a:p>
            <a:r>
              <a:rPr lang="en-US" dirty="0"/>
              <a:t>Statistics, biases, hallucinations</a:t>
            </a:r>
          </a:p>
          <a:p>
            <a:r>
              <a:rPr lang="en-US" dirty="0"/>
              <a:t>Workflow: Understand code </a:t>
            </a:r>
            <a:r>
              <a:rPr lang="en-US" dirty="0">
                <a:sym typeface="Wingdings" pitchFamily="2" charset="2"/>
              </a:rPr>
              <a:t> practice coding  understand thinking computationally + learn statistics  come up with interesting questions  answer questions  use GPT to automate this analysis</a:t>
            </a:r>
            <a:endParaRPr lang="en-US" dirty="0"/>
          </a:p>
        </p:txBody>
      </p:sp>
      <p:pic>
        <p:nvPicPr>
          <p:cNvPr id="4" name="Picture 2" descr="brainBecomingObsolete : r/ProgrammerHumor">
            <a:extLst>
              <a:ext uri="{FF2B5EF4-FFF2-40B4-BE49-F238E27FC236}">
                <a16:creationId xmlns:a16="http://schemas.microsoft.com/office/drawing/2014/main" id="{57501C37-FD89-8C1C-84EC-D761F8683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9015" y="2443229"/>
            <a:ext cx="2851993" cy="389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698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E88E2-DCAA-AB3A-8D30-4B762B14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goals of this quasi-course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247533F6-D7BB-1172-FDB3-432DFFF6D4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078355"/>
            <a:ext cx="7325034" cy="2310765"/>
          </a:xfrm>
        </p:spPr>
      </p:pic>
      <p:sp>
        <p:nvSpPr>
          <p:cNvPr id="6" name="AutoShape 4" descr="Details are in the caption following the image">
            <a:extLst>
              <a:ext uri="{FF2B5EF4-FFF2-40B4-BE49-F238E27FC236}">
                <a16:creationId xmlns:a16="http://schemas.microsoft.com/office/drawing/2014/main" id="{DE6BC8B1-F27C-1BCA-8E30-3ED8271F88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A collage of different colored graphs&#10;&#10;AI-generated content may be incorrect.">
            <a:extLst>
              <a:ext uri="{FF2B5EF4-FFF2-40B4-BE49-F238E27FC236}">
                <a16:creationId xmlns:a16="http://schemas.microsoft.com/office/drawing/2014/main" id="{7845E968-5C36-2329-097A-6767FBEB9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017" y="4389119"/>
            <a:ext cx="2430700" cy="2265680"/>
          </a:xfrm>
          <a:prstGeom prst="rect">
            <a:avLst/>
          </a:prstGeom>
        </p:spPr>
      </p:pic>
      <p:pic>
        <p:nvPicPr>
          <p:cNvPr id="2054" name="Picture 6" descr="Kaplan Meier curves: an introduction ...">
            <a:extLst>
              <a:ext uri="{FF2B5EF4-FFF2-40B4-BE49-F238E27FC236}">
                <a16:creationId xmlns:a16="http://schemas.microsoft.com/office/drawing/2014/main" id="{50781FAC-033A-FBBC-7EA7-4EA9577E7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20" y="4389119"/>
            <a:ext cx="3034909" cy="2167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ingle-cell RNA-seq: Clustering ...">
            <a:extLst>
              <a:ext uri="{FF2B5EF4-FFF2-40B4-BE49-F238E27FC236}">
                <a16:creationId xmlns:a16="http://schemas.microsoft.com/office/drawing/2014/main" id="{1901E527-EC25-FB44-2966-D3DDC65D3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034" y="2766695"/>
            <a:ext cx="4685076" cy="3244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40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7ACAC-6333-84A1-50E6-39A61B300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inspiration for this quasi-course</a:t>
            </a:r>
          </a:p>
        </p:txBody>
      </p:sp>
      <p:pic>
        <p:nvPicPr>
          <p:cNvPr id="3074" name="Picture 2" descr="Daniel P. Beiting, PhD – University of ...">
            <a:extLst>
              <a:ext uri="{FF2B5EF4-FFF2-40B4-BE49-F238E27FC236}">
                <a16:creationId xmlns:a16="http://schemas.microsoft.com/office/drawing/2014/main" id="{52131A62-3515-8E9B-5CBE-2747B2F05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109" y="2671760"/>
            <a:ext cx="1742795" cy="234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ugene Katsevich – Department of ...">
            <a:extLst>
              <a:ext uri="{FF2B5EF4-FFF2-40B4-BE49-F238E27FC236}">
                <a16:creationId xmlns:a16="http://schemas.microsoft.com/office/drawing/2014/main" id="{04519BA5-7853-5A0D-DED4-C7A2DD38E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493" y="2671761"/>
            <a:ext cx="2171014" cy="234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adley Wickham - Wikipedia">
            <a:extLst>
              <a:ext uri="{FF2B5EF4-FFF2-40B4-BE49-F238E27FC236}">
                <a16:creationId xmlns:a16="http://schemas.microsoft.com/office/drawing/2014/main" id="{01085440-48AF-9624-4843-0184642C6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45"/>
          <a:stretch>
            <a:fillRect/>
          </a:stretch>
        </p:blipFill>
        <p:spPr bwMode="auto">
          <a:xfrm>
            <a:off x="7661401" y="2671760"/>
            <a:ext cx="2324100" cy="234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3D14BA-092C-2C89-0E46-74B20154DE3E}"/>
              </a:ext>
            </a:extLst>
          </p:cNvPr>
          <p:cNvSpPr txBox="1"/>
          <p:nvPr/>
        </p:nvSpPr>
        <p:spPr>
          <a:xfrm>
            <a:off x="7895152" y="5031854"/>
            <a:ext cx="1856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Hadley Wickham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FE486-D78C-73C5-FD0D-3A3B3C5164BE}"/>
              </a:ext>
            </a:extLst>
          </p:cNvPr>
          <p:cNvSpPr txBox="1"/>
          <p:nvPr/>
        </p:nvSpPr>
        <p:spPr>
          <a:xfrm>
            <a:off x="5157244" y="5082485"/>
            <a:ext cx="1972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Eugene </a:t>
            </a:r>
            <a:r>
              <a:rPr lang="en-US" dirty="0" err="1"/>
              <a:t>Katsevich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622868-8BFA-5782-AC94-2661B37959F5}"/>
              </a:ext>
            </a:extLst>
          </p:cNvPr>
          <p:cNvSpPr txBox="1"/>
          <p:nvPr/>
        </p:nvSpPr>
        <p:spPr>
          <a:xfrm>
            <a:off x="2882886" y="5070999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Dan Beiting</a:t>
            </a:r>
          </a:p>
        </p:txBody>
      </p:sp>
    </p:spTree>
    <p:extLst>
      <p:ext uri="{BB962C8B-B14F-4D97-AF65-F5344CB8AC3E}">
        <p14:creationId xmlns:p14="http://schemas.microsoft.com/office/powerpoint/2010/main" val="3299929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4BA0-530C-2083-8FBD-BD831FAEE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CFD61-D76B-2E28-4142-19FD03A4D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to the sessions that matter most to you – feel zero obligation to snuff around</a:t>
            </a:r>
          </a:p>
          <a:p>
            <a:r>
              <a:rPr lang="en-US" dirty="0"/>
              <a:t>Show up not only to learn, but to teach</a:t>
            </a:r>
          </a:p>
          <a:p>
            <a:r>
              <a:rPr lang="en-US" dirty="0"/>
              <a:t>Tell me your interests and what excites you most! I want to add that to the curriculum</a:t>
            </a:r>
          </a:p>
          <a:p>
            <a:r>
              <a:rPr lang="en-US" dirty="0"/>
              <a:t>Give me feedback</a:t>
            </a:r>
          </a:p>
          <a:p>
            <a:r>
              <a:rPr lang="en-US" dirty="0"/>
              <a:t>Disclaimer: This is a survey course, things will be missed.</a:t>
            </a:r>
          </a:p>
        </p:txBody>
      </p:sp>
    </p:spTree>
    <p:extLst>
      <p:ext uri="{BB962C8B-B14F-4D97-AF65-F5344CB8AC3E}">
        <p14:creationId xmlns:p14="http://schemas.microsoft.com/office/powerpoint/2010/main" val="41397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C2C5-C0FC-48A7-E20B-28E350BF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Rstudio</a:t>
            </a:r>
            <a:r>
              <a:rPr lang="en-US" dirty="0"/>
              <a:t>/R Overview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C8ED0F-A07F-0C5A-6884-A56E07DED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8027" y="2468881"/>
            <a:ext cx="6795386" cy="3865611"/>
          </a:xfrm>
        </p:spPr>
      </p:pic>
    </p:spTree>
    <p:extLst>
      <p:ext uri="{BB962C8B-B14F-4D97-AF65-F5344CB8AC3E}">
        <p14:creationId xmlns:p14="http://schemas.microsoft.com/office/powerpoint/2010/main" val="137018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7260-2B2A-F040-21BB-1D5C1936A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Variables,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FA29F-B014-D724-60D8-14E040AC9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072098" cy="35661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i="1" dirty="0"/>
              <a:t>Variables </a:t>
            </a:r>
          </a:p>
          <a:p>
            <a:pPr marL="0" indent="0">
              <a:buNone/>
            </a:pPr>
            <a:r>
              <a:rPr lang="en-US" b="1" dirty="0"/>
              <a:t>Definition:</a:t>
            </a:r>
            <a:r>
              <a:rPr lang="en-US" dirty="0"/>
              <a:t> Named objects that store data</a:t>
            </a:r>
          </a:p>
          <a:p>
            <a:r>
              <a:rPr lang="en-US" b="1" dirty="0"/>
              <a:t>Common Types:</a:t>
            </a:r>
            <a:endParaRPr lang="en-US" dirty="0"/>
          </a:p>
          <a:p>
            <a:pPr lvl="1"/>
            <a:r>
              <a:rPr lang="en-US" dirty="0"/>
              <a:t>numeric → 3.14, 120, gene expression</a:t>
            </a:r>
          </a:p>
          <a:p>
            <a:pPr lvl="1"/>
            <a:r>
              <a:rPr lang="en-US" dirty="0"/>
              <a:t>character → "Male", "Control"</a:t>
            </a:r>
          </a:p>
          <a:p>
            <a:pPr lvl="1"/>
            <a:r>
              <a:rPr lang="en-US" dirty="0"/>
              <a:t>factor → categorical variables with levels</a:t>
            </a:r>
          </a:p>
          <a:p>
            <a:pPr lvl="1"/>
            <a:r>
              <a:rPr lang="en-US" dirty="0"/>
              <a:t>logical → TRUE / FALSE</a:t>
            </a:r>
          </a:p>
          <a:p>
            <a:r>
              <a:rPr lang="en-US" b="1" dirty="0"/>
              <a:t>Data Structures:</a:t>
            </a:r>
            <a:endParaRPr lang="en-US" dirty="0"/>
          </a:p>
          <a:p>
            <a:pPr lvl="1"/>
            <a:r>
              <a:rPr lang="en-US" dirty="0"/>
              <a:t>vector → single data type</a:t>
            </a:r>
          </a:p>
          <a:p>
            <a:pPr lvl="1"/>
            <a:r>
              <a:rPr lang="en-US" dirty="0" err="1"/>
              <a:t>data.frame</a:t>
            </a:r>
            <a:r>
              <a:rPr lang="en-US" dirty="0"/>
              <a:t> / </a:t>
            </a:r>
            <a:r>
              <a:rPr lang="en-US" dirty="0" err="1"/>
              <a:t>tibble</a:t>
            </a:r>
            <a:r>
              <a:rPr lang="en-US" dirty="0"/>
              <a:t> → rows = observations, columns = variables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19B500-1C93-0D3E-246D-D0BB265F7DD0}"/>
              </a:ext>
            </a:extLst>
          </p:cNvPr>
          <p:cNvSpPr txBox="1">
            <a:spLocks/>
          </p:cNvSpPr>
          <p:nvPr/>
        </p:nvSpPr>
        <p:spPr>
          <a:xfrm>
            <a:off x="6096000" y="2633472"/>
            <a:ext cx="5072098" cy="35661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i="1" dirty="0"/>
              <a:t>Methods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/>
              <a:t>Definition:</a:t>
            </a:r>
            <a:r>
              <a:rPr lang="en-US" dirty="0"/>
              <a:t> Functions that operate on variables</a:t>
            </a:r>
          </a:p>
          <a:p>
            <a:r>
              <a:rPr lang="en-US" b="1" dirty="0"/>
              <a:t>Structure:</a:t>
            </a:r>
            <a:endParaRPr lang="en-US" dirty="0"/>
          </a:p>
          <a:p>
            <a:pPr lvl="1"/>
            <a:r>
              <a:rPr lang="en-US" dirty="0" err="1"/>
              <a:t>function_name</a:t>
            </a:r>
            <a:r>
              <a:rPr lang="en-US" dirty="0"/>
              <a:t>(input, options)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mean(x) → summarize data</a:t>
            </a:r>
          </a:p>
          <a:p>
            <a:pPr lvl="1"/>
            <a:r>
              <a:rPr lang="en-US" dirty="0" err="1"/>
              <a:t>lm</a:t>
            </a:r>
            <a:r>
              <a:rPr lang="en-US" dirty="0"/>
              <a:t>(y ~ x, data = </a:t>
            </a:r>
            <a:r>
              <a:rPr lang="en-US" dirty="0" err="1"/>
              <a:t>df</a:t>
            </a:r>
            <a:r>
              <a:rPr lang="en-US" dirty="0"/>
              <a:t>) → linear regression</a:t>
            </a:r>
          </a:p>
          <a:p>
            <a:pPr lvl="1"/>
            <a:r>
              <a:rPr lang="en-US" dirty="0" err="1"/>
              <a:t>t.test</a:t>
            </a:r>
            <a:r>
              <a:rPr lang="en-US" dirty="0"/>
              <a:t>(y ~ group, data = </a:t>
            </a:r>
            <a:r>
              <a:rPr lang="en-US" dirty="0" err="1"/>
              <a:t>df</a:t>
            </a:r>
            <a:r>
              <a:rPr lang="en-US" dirty="0"/>
              <a:t>) → compare groups</a:t>
            </a:r>
          </a:p>
          <a:p>
            <a:pPr lvl="1"/>
            <a:r>
              <a:rPr lang="en-US" dirty="0"/>
              <a:t>filter(), mutate() → data manipulation (</a:t>
            </a:r>
            <a:r>
              <a:rPr lang="en-US" dirty="0" err="1"/>
              <a:t>tidyverse</a:t>
            </a:r>
            <a:r>
              <a:rPr lang="en-US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36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9BB6B-40EC-A2F3-1DCA-5B578243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structures</a:t>
            </a:r>
          </a:p>
        </p:txBody>
      </p:sp>
      <p:pic>
        <p:nvPicPr>
          <p:cNvPr id="5" name="Content Placeholder 4" descr="A diagram of values and values&#10;&#10;AI-generated content may be incorrect.">
            <a:extLst>
              <a:ext uri="{FF2B5EF4-FFF2-40B4-BE49-F238E27FC236}">
                <a16:creationId xmlns:a16="http://schemas.microsoft.com/office/drawing/2014/main" id="{46E5FFFD-EAEF-A7BD-FD94-B8093FE34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1731" y="1700522"/>
            <a:ext cx="5915466" cy="457841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6D80DD-C15F-F4E2-27F8-AB901108D4DE}"/>
              </a:ext>
            </a:extLst>
          </p:cNvPr>
          <p:cNvSpPr txBox="1">
            <a:spLocks/>
          </p:cNvSpPr>
          <p:nvPr/>
        </p:nvSpPr>
        <p:spPr>
          <a:xfrm>
            <a:off x="994023" y="2606040"/>
            <a:ext cx="4525295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Databases should be built with analysis in mind</a:t>
            </a:r>
          </a:p>
          <a:p>
            <a:pPr lvl="1"/>
            <a:r>
              <a:rPr lang="en-US" dirty="0"/>
              <a:t>Data dictionary</a:t>
            </a:r>
          </a:p>
          <a:p>
            <a:r>
              <a:rPr lang="en-US" dirty="0"/>
              <a:t> Principles of tidy data:</a:t>
            </a:r>
          </a:p>
          <a:p>
            <a:pPr lvl="1"/>
            <a:r>
              <a:rPr lang="en-US" dirty="0"/>
              <a:t>1. Each variable forms a column. </a:t>
            </a:r>
          </a:p>
          <a:p>
            <a:pPr lvl="1"/>
            <a:r>
              <a:rPr lang="en-US" dirty="0"/>
              <a:t>2. Each observation forms a row. </a:t>
            </a:r>
          </a:p>
          <a:p>
            <a:pPr lvl="1"/>
            <a:r>
              <a:rPr lang="en-US" dirty="0"/>
              <a:t>3. Each type of observational unit forms a table.</a:t>
            </a:r>
          </a:p>
        </p:txBody>
      </p:sp>
    </p:spTree>
    <p:extLst>
      <p:ext uri="{BB962C8B-B14F-4D97-AF65-F5344CB8AC3E}">
        <p14:creationId xmlns:p14="http://schemas.microsoft.com/office/powerpoint/2010/main" val="386149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6614-E3B8-79B7-71D5-08F28EB6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</a:t>
            </a:r>
            <a:r>
              <a:rPr lang="en-US" i="1" dirty="0"/>
              <a:t>tidy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D6206A-1C89-3C0D-5312-B664959DF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4335" y="3311525"/>
            <a:ext cx="5511800" cy="1663700"/>
          </a:xfrm>
        </p:spPr>
      </p:pic>
      <p:pic>
        <p:nvPicPr>
          <p:cNvPr id="7" name="Picture 6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48865B96-E1E0-BB51-E4AB-FBFFC917E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84" y="3273425"/>
            <a:ext cx="40767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7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ABB9BC0D-CC41-A004-8087-726213711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9150" y="2468881"/>
            <a:ext cx="8013700" cy="3530600"/>
          </a:xfr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95D7F7F-9A33-2192-4E9B-56773340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/>
          <a:lstStyle/>
          <a:p>
            <a:r>
              <a:rPr lang="en-US" dirty="0"/>
              <a:t>Principles of </a:t>
            </a:r>
            <a:r>
              <a:rPr lang="en-US" i="1" dirty="0"/>
              <a:t>tidy data</a:t>
            </a:r>
          </a:p>
        </p:txBody>
      </p:sp>
    </p:spTree>
    <p:extLst>
      <p:ext uri="{BB962C8B-B14F-4D97-AF65-F5344CB8AC3E}">
        <p14:creationId xmlns:p14="http://schemas.microsoft.com/office/powerpoint/2010/main" val="2300746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B8A3A-C79C-13F2-D26A-07D8D7C7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FCB557A4-5AF5-0B6F-988F-E58F3731E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7510" y="3131290"/>
            <a:ext cx="6192972" cy="2728441"/>
          </a:xfrm>
        </p:spPr>
      </p:pic>
      <p:pic>
        <p:nvPicPr>
          <p:cNvPr id="4" name="Picture 3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FEB05365-1EF9-E979-7B3B-10F2A8F7F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487" y="2978516"/>
            <a:ext cx="3403003" cy="262425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BCD39C-04DD-6297-AD65-409D699EC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/>
          <a:lstStyle/>
          <a:p>
            <a:r>
              <a:rPr lang="en-US" dirty="0"/>
              <a:t>Principles of </a:t>
            </a:r>
            <a:r>
              <a:rPr lang="en-US" i="1" dirty="0"/>
              <a:t>tidy data</a:t>
            </a:r>
          </a:p>
        </p:txBody>
      </p:sp>
    </p:spTree>
    <p:extLst>
      <p:ext uri="{BB962C8B-B14F-4D97-AF65-F5344CB8AC3E}">
        <p14:creationId xmlns:p14="http://schemas.microsoft.com/office/powerpoint/2010/main" val="2484235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CA009-A7EC-E704-F305-B55E3C3F9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</a:t>
            </a:r>
            <a:r>
              <a:rPr lang="en-US" i="1" dirty="0"/>
              <a:t>tidy data</a:t>
            </a:r>
            <a:endParaRPr lang="en-US" dirty="0"/>
          </a:p>
        </p:txBody>
      </p:sp>
      <p:pic>
        <p:nvPicPr>
          <p:cNvPr id="5" name="Content Placeholder 4" descr="A table with numbers and a few digits&#10;&#10;AI-generated content may be incorrect.">
            <a:extLst>
              <a:ext uri="{FF2B5EF4-FFF2-40B4-BE49-F238E27FC236}">
                <a16:creationId xmlns:a16="http://schemas.microsoft.com/office/drawing/2014/main" id="{2C97CCF8-0C1A-D731-B761-127AF657A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844" y="3051809"/>
            <a:ext cx="6224083" cy="2434590"/>
          </a:xfrm>
        </p:spPr>
      </p:pic>
      <p:pic>
        <p:nvPicPr>
          <p:cNvPr id="7" name="Picture 6" descr="A table of numbers and a number&#10;&#10;AI-generated content may be incorrect.">
            <a:extLst>
              <a:ext uri="{FF2B5EF4-FFF2-40B4-BE49-F238E27FC236}">
                <a16:creationId xmlns:a16="http://schemas.microsoft.com/office/drawing/2014/main" id="{D13CB6B5-DF29-AD8A-7D7F-B9886F8E0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457" y="2790306"/>
            <a:ext cx="4782699" cy="319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18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5CECA-8C49-A7FE-EF7D-088B0AC5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If-else</a:t>
            </a:r>
          </a:p>
        </p:txBody>
      </p:sp>
      <p:pic>
        <p:nvPicPr>
          <p:cNvPr id="5" name="Content Placeholder 4" descr="A diagram of a condition&#10;&#10;AI-generated content may be incorrect.">
            <a:extLst>
              <a:ext uri="{FF2B5EF4-FFF2-40B4-BE49-F238E27FC236}">
                <a16:creationId xmlns:a16="http://schemas.microsoft.com/office/drawing/2014/main" id="{D3B32EC3-49CB-6523-4F56-3AEDA705A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9641" y="227865"/>
            <a:ext cx="3328302" cy="3565525"/>
          </a:xfrm>
        </p:spPr>
      </p:pic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6A53CDA-93DC-7216-AFA9-D3C208F1A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92" y="2257719"/>
            <a:ext cx="5950015" cy="1647696"/>
          </a:xfrm>
          <a:prstGeom prst="rect">
            <a:avLst/>
          </a:prstGeom>
        </p:spPr>
      </p:pic>
      <p:pic>
        <p:nvPicPr>
          <p:cNvPr id="11" name="Picture 10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43FC5539-DC48-492F-8745-EC110CF92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93" y="3905414"/>
            <a:ext cx="3840834" cy="1589607"/>
          </a:xfrm>
          <a:prstGeom prst="rect">
            <a:avLst/>
          </a:prstGeom>
        </p:spPr>
      </p:pic>
      <p:pic>
        <p:nvPicPr>
          <p:cNvPr id="13" name="Picture 12" descr="A white table with black text&#10;&#10;AI-generated content may be incorrect.">
            <a:extLst>
              <a:ext uri="{FF2B5EF4-FFF2-40B4-BE49-F238E27FC236}">
                <a16:creationId xmlns:a16="http://schemas.microsoft.com/office/drawing/2014/main" id="{F772F4DA-9E95-90FA-5B71-6F61DACCA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393" y="4323668"/>
            <a:ext cx="3454261" cy="230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79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873F-6F9D-954F-B658-6A16C5457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</a:p>
        </p:txBody>
      </p:sp>
      <p:pic>
        <p:nvPicPr>
          <p:cNvPr id="9" name="Picture 8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A546FF2B-7D04-1EB9-550F-A294ACD8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37" y="2254987"/>
            <a:ext cx="7772400" cy="1454344"/>
          </a:xfrm>
          <a:prstGeom prst="rect">
            <a:avLst/>
          </a:prstGeom>
        </p:spPr>
      </p:pic>
      <p:pic>
        <p:nvPicPr>
          <p:cNvPr id="13" name="Picture 12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F0DD29C7-F01D-D93F-984E-D83D30B02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50" y="3911599"/>
            <a:ext cx="5118100" cy="15748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A5507D-4E53-FD10-F328-01424D76B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224269" y="2279009"/>
            <a:ext cx="3509078" cy="3565525"/>
          </a:xfrm>
        </p:spPr>
      </p:pic>
    </p:spTree>
    <p:extLst>
      <p:ext uri="{BB962C8B-B14F-4D97-AF65-F5344CB8AC3E}">
        <p14:creationId xmlns:p14="http://schemas.microsoft.com/office/powerpoint/2010/main" val="722655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1561-F4A9-1812-FC38-3054D12ED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234268"/>
            <a:ext cx="10890929" cy="1097280"/>
          </a:xfrm>
        </p:spPr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70538001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464</Words>
  <Application>Microsoft Macintosh PowerPoint</Application>
  <PresentationFormat>Widescreen</PresentationFormat>
  <Paragraphs>69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Grandview Display</vt:lpstr>
      <vt:lpstr>Times New Roman</vt:lpstr>
      <vt:lpstr>Wingdings</vt:lpstr>
      <vt:lpstr>DashVTI</vt:lpstr>
      <vt:lpstr>Introduction to Clinical Informatics</vt:lpstr>
      <vt:lpstr>Why is informatics relevant to medicine?</vt:lpstr>
      <vt:lpstr>What questions can informatics help answer?</vt:lpstr>
      <vt:lpstr>But can’t chat just do it all?</vt:lpstr>
      <vt:lpstr>The goals of this quasi-course</vt:lpstr>
      <vt:lpstr>The inspiration for this quasi-course</vt:lpstr>
      <vt:lpstr>Expectations</vt:lpstr>
      <vt:lpstr>Rstudio/R Overview</vt:lpstr>
      <vt:lpstr>Variables, Methods</vt:lpstr>
      <vt:lpstr>Database structures</vt:lpstr>
      <vt:lpstr>Principles of tidy data</vt:lpstr>
      <vt:lpstr>Principles of tidy data</vt:lpstr>
      <vt:lpstr>Principles of tidy data</vt:lpstr>
      <vt:lpstr>Principles of tidy data</vt:lpstr>
      <vt:lpstr>If-else</vt:lpstr>
      <vt:lpstr>For Loops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Joshi</dc:creator>
  <cp:lastModifiedBy>Nikhil Joshi</cp:lastModifiedBy>
  <cp:revision>3</cp:revision>
  <dcterms:created xsi:type="dcterms:W3CDTF">2026-01-27T20:20:03Z</dcterms:created>
  <dcterms:modified xsi:type="dcterms:W3CDTF">2026-01-28T10:59:53Z</dcterms:modified>
</cp:coreProperties>
</file>